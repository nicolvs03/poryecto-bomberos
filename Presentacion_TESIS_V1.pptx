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57" r:id="rId5"/>
  </p:sldMasterIdLst>
  <p:notesMasterIdLst>
    <p:notesMasterId r:id="rId16"/>
  </p:notesMasterIdLst>
  <p:handoutMasterIdLst>
    <p:handoutMasterId r:id="rId17"/>
  </p:handoutMasterIdLst>
  <p:sldIdLst>
    <p:sldId id="331" r:id="rId6"/>
    <p:sldId id="344" r:id="rId7"/>
    <p:sldId id="345" r:id="rId8"/>
    <p:sldId id="348" r:id="rId9"/>
    <p:sldId id="349" r:id="rId10"/>
    <p:sldId id="350" r:id="rId11"/>
    <p:sldId id="351" r:id="rId12"/>
    <p:sldId id="352" r:id="rId13"/>
    <p:sldId id="347" r:id="rId14"/>
    <p:sldId id="268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1pPr>
    <a:lvl2pPr marL="0" marR="0" indent="4572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2pPr>
    <a:lvl3pPr marL="0" marR="0" indent="9144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3pPr>
    <a:lvl4pPr marL="0" marR="0" indent="13716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4pPr>
    <a:lvl5pPr marL="0" marR="0" indent="18288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5pPr>
    <a:lvl6pPr marL="0" marR="0" indent="22860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6pPr>
    <a:lvl7pPr marL="0" marR="0" indent="27432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7pPr>
    <a:lvl8pPr marL="0" marR="0" indent="32004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8pPr>
    <a:lvl9pPr marL="0" marR="0" indent="36576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therine Díaz Olivos" initials="CDO" lastIdx="8" clrIdx="0">
    <p:extLst>
      <p:ext uri="{19B8F6BF-5375-455C-9EA6-DF929625EA0E}">
        <p15:presenceInfo xmlns:p15="http://schemas.microsoft.com/office/powerpoint/2012/main" userId="S-1-5-21-1538672992-175319928-926709054-182580" providerId="AD"/>
      </p:ext>
    </p:extLst>
  </p:cmAuthor>
  <p:cmAuthor id="2" name="Karoll Labrín Bórquez" initials="KLB" lastIdx="1" clrIdx="1">
    <p:extLst>
      <p:ext uri="{19B8F6BF-5375-455C-9EA6-DF929625EA0E}">
        <p15:presenceInfo xmlns:p15="http://schemas.microsoft.com/office/powerpoint/2012/main" userId="S-1-5-21-1538672992-175319928-926709054-1942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0000"/>
    <a:srgbClr val="777777"/>
    <a:srgbClr val="E80E0E"/>
    <a:srgbClr val="CC0000"/>
    <a:srgbClr val="F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>
          <a:latin typeface="Open Sans Light"/>
          <a:ea typeface="Open Sans Light"/>
          <a:cs typeface="Open Sans Light"/>
        </a:font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BEBEB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F2427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110" autoAdjust="0"/>
    <p:restoredTop sz="94660"/>
  </p:normalViewPr>
  <p:slideViewPr>
    <p:cSldViewPr snapToGrid="0">
      <p:cViewPr varScale="1">
        <p:scale>
          <a:sx n="35" d="100"/>
          <a:sy n="35" d="100"/>
        </p:scale>
        <p:origin x="126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8FCBC-C477-4D6D-828A-7941D2A76A08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1E7FB-0083-49AB-B567-A46CBFCFAB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69463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8" name="Shape 14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 latinLnBrk="0">
      <a:defRPr sz="2400">
        <a:latin typeface="+mn-lt"/>
        <a:ea typeface="+mn-ea"/>
        <a:cs typeface="+mn-cs"/>
        <a:sym typeface="Open Sans"/>
      </a:defRPr>
    </a:lvl1pPr>
    <a:lvl2pPr indent="228600" defTabSz="1828800" latinLnBrk="0">
      <a:defRPr sz="2400">
        <a:latin typeface="+mn-lt"/>
        <a:ea typeface="+mn-ea"/>
        <a:cs typeface="+mn-cs"/>
        <a:sym typeface="Open Sans"/>
      </a:defRPr>
    </a:lvl2pPr>
    <a:lvl3pPr indent="457200" defTabSz="1828800" latinLnBrk="0">
      <a:defRPr sz="2400">
        <a:latin typeface="+mn-lt"/>
        <a:ea typeface="+mn-ea"/>
        <a:cs typeface="+mn-cs"/>
        <a:sym typeface="Open Sans"/>
      </a:defRPr>
    </a:lvl3pPr>
    <a:lvl4pPr indent="685800" defTabSz="1828800" latinLnBrk="0">
      <a:defRPr sz="2400">
        <a:latin typeface="+mn-lt"/>
        <a:ea typeface="+mn-ea"/>
        <a:cs typeface="+mn-cs"/>
        <a:sym typeface="Open Sans"/>
      </a:defRPr>
    </a:lvl4pPr>
    <a:lvl5pPr indent="914400" defTabSz="1828800" latinLnBrk="0">
      <a:defRPr sz="2400">
        <a:latin typeface="+mn-lt"/>
        <a:ea typeface="+mn-ea"/>
        <a:cs typeface="+mn-cs"/>
        <a:sym typeface="Open Sans"/>
      </a:defRPr>
    </a:lvl5pPr>
    <a:lvl6pPr indent="1143000" defTabSz="1828800" latinLnBrk="0">
      <a:defRPr sz="2400">
        <a:latin typeface="+mn-lt"/>
        <a:ea typeface="+mn-ea"/>
        <a:cs typeface="+mn-cs"/>
        <a:sym typeface="Open Sans"/>
      </a:defRPr>
    </a:lvl6pPr>
    <a:lvl7pPr indent="1371600" defTabSz="1828800" latinLnBrk="0">
      <a:defRPr sz="2400">
        <a:latin typeface="+mn-lt"/>
        <a:ea typeface="+mn-ea"/>
        <a:cs typeface="+mn-cs"/>
        <a:sym typeface="Open Sans"/>
      </a:defRPr>
    </a:lvl7pPr>
    <a:lvl8pPr indent="1600200" defTabSz="1828800" latinLnBrk="0">
      <a:defRPr sz="2400">
        <a:latin typeface="+mn-lt"/>
        <a:ea typeface="+mn-ea"/>
        <a:cs typeface="+mn-cs"/>
        <a:sym typeface="Open Sans"/>
      </a:defRPr>
    </a:lvl8pPr>
    <a:lvl9pPr indent="1828800" defTabSz="1828800" latinLnBrk="0">
      <a:defRPr sz="2400">
        <a:latin typeface="+mn-lt"/>
        <a:ea typeface="+mn-ea"/>
        <a:cs typeface="+mn-cs"/>
        <a:sym typeface="Open San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Logo Universidad INACAP-Hor-1.jpg" descr="Logo Universidad INACAP-Hor-1.jp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53006" y="2220278"/>
            <a:ext cx="4918390" cy="1429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Imagen 4" descr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4000" cy="1564008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TÍTULO DE LA PRESENTACIÓN"/>
          <p:cNvSpPr txBox="1">
            <a:spLocks noGrp="1"/>
          </p:cNvSpPr>
          <p:nvPr>
            <p:ph type="body" sz="quarter" idx="13"/>
          </p:nvPr>
        </p:nvSpPr>
        <p:spPr>
          <a:xfrm>
            <a:off x="3302000" y="5734619"/>
            <a:ext cx="17780000" cy="1732281"/>
          </a:xfrm>
          <a:prstGeom prst="rect">
            <a:avLst/>
          </a:prstGeom>
        </p:spPr>
        <p:txBody>
          <a:bodyPr anchor="b">
            <a:spAutoFit/>
          </a:bodyPr>
          <a:lstStyle/>
          <a:p>
            <a:pPr marL="0" indent="0" algn="ctr">
              <a:buSzTx/>
              <a:buFontTx/>
              <a:buNone/>
              <a:defRPr sz="9000" spc="-450">
                <a:solidFill>
                  <a:srgbClr val="5E5E5E"/>
                </a:solidFill>
                <a:latin typeface="+mn-lt"/>
                <a:ea typeface="+mn-ea"/>
                <a:cs typeface="+mn-cs"/>
                <a:sym typeface="Open Sans"/>
              </a:defRPr>
            </a:pPr>
            <a:r>
              <a:rPr>
                <a:latin typeface="Open Sans Light"/>
                <a:ea typeface="Open Sans Light"/>
                <a:cs typeface="Open Sans Light"/>
                <a:sym typeface="Open Sans Light"/>
              </a:rPr>
              <a:t>TÍTULO DE LA</a:t>
            </a:r>
            <a:r>
              <a:rPr b="1"/>
              <a:t> PRESENTACIÓN</a:t>
            </a:r>
          </a:p>
        </p:txBody>
      </p:sp>
      <p:sp>
        <p:nvSpPr>
          <p:cNvPr id="29" name="SUBTÍTULO DE LA PRESENTACIÓN"/>
          <p:cNvSpPr txBox="1">
            <a:spLocks noGrp="1"/>
          </p:cNvSpPr>
          <p:nvPr>
            <p:ph type="body" sz="quarter" idx="14"/>
          </p:nvPr>
        </p:nvSpPr>
        <p:spPr>
          <a:xfrm>
            <a:off x="3302000" y="7252400"/>
            <a:ext cx="17780000" cy="72898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SzTx/>
              <a:buFontTx/>
              <a:buNone/>
              <a:defRPr sz="3200" spc="-160"/>
            </a:lvl1pPr>
          </a:lstStyle>
          <a:p>
            <a:r>
              <a:t>SUBTÍTULO DE LA PRESENTACIÓN</a:t>
            </a:r>
          </a:p>
        </p:txBody>
      </p:sp>
      <p:sp>
        <p:nvSpPr>
          <p:cNvPr id="30" name="Mes 2018…"/>
          <p:cNvSpPr txBox="1">
            <a:spLocks noGrp="1"/>
          </p:cNvSpPr>
          <p:nvPr>
            <p:ph type="body" sz="quarter" idx="15"/>
          </p:nvPr>
        </p:nvSpPr>
        <p:spPr>
          <a:xfrm>
            <a:off x="7536646" y="10865732"/>
            <a:ext cx="9310708" cy="12242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buSzTx/>
              <a:buFontTx/>
              <a:buNone/>
            </a:pPr>
            <a:r>
              <a:t>Mes 2018</a:t>
            </a:r>
          </a:p>
          <a:p>
            <a:pPr marL="0" indent="0" algn="ctr">
              <a:buSzTx/>
              <a:buFontTx/>
              <a:buNone/>
            </a:pPr>
            <a:r>
              <a:t>Vicerrectoría de Vinculación con el Medio y Comunicaciones</a:t>
            </a:r>
          </a:p>
        </p:txBody>
      </p:sp>
      <p:pic>
        <p:nvPicPr>
          <p:cNvPr id="31" name="Imagen 4" descr="Imagen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3406397"/>
            <a:ext cx="24384000" cy="309603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Logo Universidad INACAP-Hor-1.jpg" descr="Logo Universidad INACAP-Hor-1.jp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7509" y="5590904"/>
            <a:ext cx="4866138" cy="1619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Imagen 4" descr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9060488"/>
            <a:ext cx="24384000" cy="465551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Imagen 4" descr="Imagen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4000" cy="1665658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Logo Universidad INACAP-Hor-1.jpg" descr="Logo Universidad INACAP-Hor-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51265" y="2254691"/>
            <a:ext cx="10481342" cy="1270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" name="Grupo"/>
          <p:cNvGrpSpPr/>
          <p:nvPr/>
        </p:nvGrpSpPr>
        <p:grpSpPr>
          <a:xfrm>
            <a:off x="5842000" y="2254691"/>
            <a:ext cx="12700000" cy="1270001"/>
            <a:chOff x="0" y="0"/>
            <a:chExt cx="12700000" cy="1270000"/>
          </a:xfrm>
        </p:grpSpPr>
        <p:sp>
          <p:nvSpPr>
            <p:cNvPr id="24" name="Rectángulo"/>
            <p:cNvSpPr/>
            <p:nvPr/>
          </p:nvSpPr>
          <p:spPr>
            <a:xfrm>
              <a:off x="0" y="0"/>
              <a:ext cx="12700000" cy="12700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63500" tIns="63500" rIns="63500" bIns="63500" numCol="1" anchor="ctr">
              <a:noAutofit/>
            </a:bodyPr>
            <a:lstStyle/>
            <a:p>
              <a:pPr algn="ctr" defTabSz="457200">
                <a:defRPr sz="4000" b="1" spc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Open Sans"/>
                </a:defRPr>
              </a:pPr>
              <a:endParaRPr/>
            </a:p>
          </p:txBody>
        </p:sp>
        <p:pic>
          <p:nvPicPr>
            <p:cNvPr id="25" name="INACAP_conbajada2.jpeg" descr="INACAP_conbajada2.jpe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4767" y="0"/>
              <a:ext cx="10130466" cy="1270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7" name="Imagen 4" descr="Imagen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4000" cy="1564008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TÍTULO DE LA PRESENTACIÓN"/>
          <p:cNvSpPr txBox="1">
            <a:spLocks noGrp="1"/>
          </p:cNvSpPr>
          <p:nvPr>
            <p:ph type="body" sz="quarter" idx="13"/>
          </p:nvPr>
        </p:nvSpPr>
        <p:spPr>
          <a:xfrm>
            <a:off x="3302000" y="5734619"/>
            <a:ext cx="17780000" cy="1732281"/>
          </a:xfrm>
          <a:prstGeom prst="rect">
            <a:avLst/>
          </a:prstGeom>
        </p:spPr>
        <p:txBody>
          <a:bodyPr anchor="b">
            <a:spAutoFit/>
          </a:bodyPr>
          <a:lstStyle/>
          <a:p>
            <a:pPr marL="0" indent="0" algn="ctr">
              <a:buSzTx/>
              <a:buFontTx/>
              <a:buNone/>
              <a:defRPr sz="9000" spc="-450">
                <a:solidFill>
                  <a:srgbClr val="5E5E5E"/>
                </a:solidFill>
                <a:latin typeface="+mn-lt"/>
                <a:ea typeface="+mn-ea"/>
                <a:cs typeface="+mn-cs"/>
                <a:sym typeface="Open Sans"/>
              </a:defRPr>
            </a:pPr>
            <a:r>
              <a:rPr>
                <a:latin typeface="Open Sans Light"/>
                <a:ea typeface="Open Sans Light"/>
                <a:cs typeface="Open Sans Light"/>
                <a:sym typeface="Open Sans Light"/>
              </a:rPr>
              <a:t>TÍTULO DE LA</a:t>
            </a:r>
            <a:r>
              <a:rPr b="1"/>
              <a:t> PRESENTACIÓN</a:t>
            </a:r>
          </a:p>
        </p:txBody>
      </p:sp>
      <p:sp>
        <p:nvSpPr>
          <p:cNvPr id="29" name="SUBTÍTULO DE LA PRESENTACIÓN"/>
          <p:cNvSpPr txBox="1">
            <a:spLocks noGrp="1"/>
          </p:cNvSpPr>
          <p:nvPr>
            <p:ph type="body" sz="quarter" idx="14"/>
          </p:nvPr>
        </p:nvSpPr>
        <p:spPr>
          <a:xfrm>
            <a:off x="3302000" y="7252400"/>
            <a:ext cx="17780000" cy="72898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SzTx/>
              <a:buFontTx/>
              <a:buNone/>
              <a:defRPr sz="3200" spc="-160"/>
            </a:lvl1pPr>
          </a:lstStyle>
          <a:p>
            <a:r>
              <a:t>SUBTÍTULO DE LA PRESENTACIÓN</a:t>
            </a:r>
          </a:p>
        </p:txBody>
      </p:sp>
      <p:sp>
        <p:nvSpPr>
          <p:cNvPr id="30" name="Mes 2018…"/>
          <p:cNvSpPr txBox="1">
            <a:spLocks noGrp="1"/>
          </p:cNvSpPr>
          <p:nvPr>
            <p:ph type="body" sz="quarter" idx="15"/>
          </p:nvPr>
        </p:nvSpPr>
        <p:spPr>
          <a:xfrm>
            <a:off x="7536646" y="10865732"/>
            <a:ext cx="9310708" cy="12242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buSzTx/>
              <a:buFontTx/>
              <a:buNone/>
            </a:pPr>
            <a:r>
              <a:t>Mes 2018</a:t>
            </a:r>
          </a:p>
          <a:p>
            <a:pPr marL="0" indent="0" algn="ctr">
              <a:buSzTx/>
              <a:buFontTx/>
              <a:buNone/>
            </a:pPr>
            <a:r>
              <a:t>Vicerrectoría de Vinculación con el Medio y Comunicaciones</a:t>
            </a:r>
          </a:p>
        </p:txBody>
      </p:sp>
      <p:pic>
        <p:nvPicPr>
          <p:cNvPr id="31" name="Imagen 4" descr="Imagen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3406397"/>
            <a:ext cx="24384000" cy="309603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2699318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ONTENIDO"/>
          <p:cNvSpPr txBox="1">
            <a:spLocks noGrp="1"/>
          </p:cNvSpPr>
          <p:nvPr>
            <p:ph type="body" sz="quarter" idx="13"/>
          </p:nvPr>
        </p:nvSpPr>
        <p:spPr>
          <a:xfrm>
            <a:off x="1280258" y="5925936"/>
            <a:ext cx="7617172" cy="122428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algn="r">
              <a:buSzTx/>
              <a:buFontTx/>
              <a:buNone/>
              <a:defRPr sz="6000" spc="-300"/>
            </a:lvl1pPr>
          </a:lstStyle>
          <a:p>
            <a:r>
              <a:t>CONTENIDO</a:t>
            </a:r>
          </a:p>
        </p:txBody>
      </p:sp>
      <p:sp>
        <p:nvSpPr>
          <p:cNvPr id="40" name="Contenido uno: lorem ipsum dolor sit amet…"/>
          <p:cNvSpPr txBox="1">
            <a:spLocks noGrp="1"/>
          </p:cNvSpPr>
          <p:nvPr>
            <p:ph type="body" sz="quarter" idx="14"/>
          </p:nvPr>
        </p:nvSpPr>
        <p:spPr>
          <a:xfrm>
            <a:off x="9904451" y="4560686"/>
            <a:ext cx="11430001" cy="3954781"/>
          </a:xfrm>
          <a:prstGeom prst="rect">
            <a:avLst/>
          </a:prstGeom>
        </p:spPr>
        <p:txBody>
          <a:bodyPr anchor="ctr">
            <a:spAutoFit/>
          </a:bodyPr>
          <a:lstStyle/>
          <a:p>
            <a:pPr marL="761999" indent="-761999">
              <a:lnSpc>
                <a:spcPct val="110000"/>
              </a:lnSpc>
              <a:buFontTx/>
              <a:buAutoNum type="arabicPeriod"/>
              <a:defRPr sz="4000" spc="-200"/>
            </a:pPr>
            <a:r>
              <a:t>Contenido uno: lorem ipsum dolor sit amet</a:t>
            </a:r>
          </a:p>
          <a:p>
            <a:pPr marL="761999" indent="-761999">
              <a:lnSpc>
                <a:spcPct val="110000"/>
              </a:lnSpc>
              <a:buFontTx/>
              <a:buAutoNum type="arabicPeriod"/>
              <a:defRPr sz="4000" spc="-200"/>
            </a:pPr>
            <a:r>
              <a:t>Contenido dos: lorem ipsum dolor sit amet</a:t>
            </a:r>
          </a:p>
          <a:p>
            <a:pPr marL="761999" indent="-761999">
              <a:lnSpc>
                <a:spcPct val="110000"/>
              </a:lnSpc>
              <a:buFontTx/>
              <a:buAutoNum type="arabicPeriod"/>
              <a:defRPr sz="4000" spc="-200"/>
            </a:pPr>
            <a:r>
              <a:t>Contenido tres: lorem ipsum dolor sit amet</a:t>
            </a:r>
          </a:p>
          <a:p>
            <a:pPr marL="761999" indent="-761999">
              <a:lnSpc>
                <a:spcPct val="110000"/>
              </a:lnSpc>
              <a:buFontTx/>
              <a:buAutoNum type="arabicPeriod"/>
              <a:defRPr sz="4000" spc="-200"/>
            </a:pPr>
            <a:r>
              <a:t>Contenido cuatro: lorem ipsum dolor sit amet</a:t>
            </a:r>
          </a:p>
          <a:p>
            <a:pPr marL="761999" indent="-761999">
              <a:lnSpc>
                <a:spcPct val="110000"/>
              </a:lnSpc>
              <a:buFontTx/>
              <a:buAutoNum type="arabicPeriod"/>
              <a:defRPr sz="4000" spc="-200"/>
            </a:pPr>
            <a:r>
              <a:t>Contenido cinco: lorem ipsum dolor sit amet</a:t>
            </a:r>
          </a:p>
        </p:txBody>
      </p:sp>
      <p:sp>
        <p:nvSpPr>
          <p:cNvPr id="4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763560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2_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ítulo de la diapositiva…"/>
          <p:cNvSpPr txBox="1">
            <a:spLocks noGrp="1"/>
          </p:cNvSpPr>
          <p:nvPr>
            <p:ph type="body" sz="quarter" idx="13"/>
          </p:nvPr>
        </p:nvSpPr>
        <p:spPr>
          <a:xfrm>
            <a:off x="1278379" y="1272465"/>
            <a:ext cx="16981241" cy="192278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buSzTx/>
              <a:buFontTx/>
              <a:buNone/>
              <a:defRPr sz="6000" spc="-300"/>
            </a:pPr>
            <a:r>
              <a:t>Título de la diapositiva</a:t>
            </a:r>
          </a:p>
          <a:p>
            <a:pPr marL="0" indent="0">
              <a:buSzTx/>
              <a:buFontTx/>
              <a:buNone/>
              <a:defRPr sz="4000" spc="-200"/>
            </a:pPr>
            <a:r>
              <a:t>Subtítulo de la diapositiva</a:t>
            </a:r>
          </a:p>
        </p:txBody>
      </p:sp>
      <p:grpSp>
        <p:nvGrpSpPr>
          <p:cNvPr id="73" name="Grupo"/>
          <p:cNvGrpSpPr/>
          <p:nvPr/>
        </p:nvGrpSpPr>
        <p:grpSpPr>
          <a:xfrm>
            <a:off x="0" y="0"/>
            <a:ext cx="24384000" cy="574931"/>
            <a:chOff x="0" y="0"/>
            <a:chExt cx="24384000" cy="574930"/>
          </a:xfrm>
        </p:grpSpPr>
        <p:pic>
          <p:nvPicPr>
            <p:cNvPr id="71" name="Imagen 4" descr="Imagen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4384000" cy="5125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2" name="Rectángulo"/>
            <p:cNvSpPr/>
            <p:nvPr/>
          </p:nvSpPr>
          <p:spPr>
            <a:xfrm>
              <a:off x="975290" y="279680"/>
              <a:ext cx="4186137" cy="29525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76" name="Grupo"/>
          <p:cNvGrpSpPr/>
          <p:nvPr/>
        </p:nvGrpSpPr>
        <p:grpSpPr>
          <a:xfrm>
            <a:off x="0" y="12813001"/>
            <a:ext cx="24384000" cy="902999"/>
            <a:chOff x="0" y="0"/>
            <a:chExt cx="24384000" cy="902998"/>
          </a:xfrm>
        </p:grpSpPr>
        <p:pic>
          <p:nvPicPr>
            <p:cNvPr id="74" name="Imagen 4" descr="Imagen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5601"/>
              <a:ext cx="24384000" cy="8973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5" name="Rectángulo"/>
            <p:cNvSpPr/>
            <p:nvPr/>
          </p:nvSpPr>
          <p:spPr>
            <a:xfrm>
              <a:off x="19495884" y="0"/>
              <a:ext cx="4234273" cy="37546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8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pic>
        <p:nvPicPr>
          <p:cNvPr id="10" name="INACAP_conbajada2.jpeg" descr="INACAP_conbajada2.jpeg">
            <a:extLst>
              <a:ext uri="{FF2B5EF4-FFF2-40B4-BE49-F238E27FC236}">
                <a16:creationId xmlns:a16="http://schemas.microsoft.com/office/drawing/2014/main" id="{243BB218-5DAB-3D4A-B21E-06A559B876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335999" y="12439441"/>
            <a:ext cx="2152355" cy="571501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</p:spTree>
    <p:extLst>
      <p:ext uri="{BB962C8B-B14F-4D97-AF65-F5344CB8AC3E}">
        <p14:creationId xmlns:p14="http://schemas.microsoft.com/office/powerpoint/2010/main" val="413861774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in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258114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Universidad INACAP-Hor-1.jpg" descr="Logo Universidad INACAP-Hor-1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850769" y="12439441"/>
            <a:ext cx="4716605" cy="5715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Grupo"/>
          <p:cNvGrpSpPr/>
          <p:nvPr/>
        </p:nvGrpSpPr>
        <p:grpSpPr>
          <a:xfrm>
            <a:off x="0" y="0"/>
            <a:ext cx="24384000" cy="574931"/>
            <a:chOff x="0" y="0"/>
            <a:chExt cx="24384000" cy="574930"/>
          </a:xfrm>
        </p:grpSpPr>
        <p:pic>
          <p:nvPicPr>
            <p:cNvPr id="3" name="Imagen 4" descr="Imagen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4384000" cy="5125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" name="Rectángulo"/>
            <p:cNvSpPr/>
            <p:nvPr/>
          </p:nvSpPr>
          <p:spPr>
            <a:xfrm>
              <a:off x="975290" y="279680"/>
              <a:ext cx="4186137" cy="29525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8" name="Grupo"/>
          <p:cNvGrpSpPr/>
          <p:nvPr/>
        </p:nvGrpSpPr>
        <p:grpSpPr>
          <a:xfrm>
            <a:off x="0" y="12813001"/>
            <a:ext cx="24384000" cy="902999"/>
            <a:chOff x="0" y="0"/>
            <a:chExt cx="24384000" cy="902998"/>
          </a:xfrm>
        </p:grpSpPr>
        <p:pic>
          <p:nvPicPr>
            <p:cNvPr id="6" name="Imagen 4" descr="Imagen 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5601"/>
              <a:ext cx="24384000" cy="8973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Rectángulo"/>
            <p:cNvSpPr/>
            <p:nvPr/>
          </p:nvSpPr>
          <p:spPr>
            <a:xfrm>
              <a:off x="19495884" y="0"/>
              <a:ext cx="4234273" cy="37546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9" name="Línea"/>
          <p:cNvSpPr/>
          <p:nvPr/>
        </p:nvSpPr>
        <p:spPr>
          <a:xfrm>
            <a:off x="7488570" y="7111328"/>
            <a:ext cx="1275619" cy="1"/>
          </a:xfrm>
          <a:prstGeom prst="line">
            <a:avLst/>
          </a:prstGeom>
          <a:ln w="25400">
            <a:solidFill>
              <a:srgbClr val="DF2427"/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sp>
        <p:nvSpPr>
          <p:cNvPr id="10" name="Línea"/>
          <p:cNvSpPr/>
          <p:nvPr/>
        </p:nvSpPr>
        <p:spPr>
          <a:xfrm>
            <a:off x="18034000" y="12099576"/>
            <a:ext cx="6350000" cy="1"/>
          </a:xfrm>
          <a:prstGeom prst="line">
            <a:avLst/>
          </a:prstGeom>
          <a:ln w="12700">
            <a:solidFill>
              <a:srgbClr val="D6D6D6"/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grpSp>
        <p:nvGrpSpPr>
          <p:cNvPr id="13" name="Grupo"/>
          <p:cNvGrpSpPr/>
          <p:nvPr/>
        </p:nvGrpSpPr>
        <p:grpSpPr>
          <a:xfrm>
            <a:off x="18351500" y="12439441"/>
            <a:ext cx="5715000" cy="571501"/>
            <a:chOff x="0" y="0"/>
            <a:chExt cx="5715000" cy="571500"/>
          </a:xfrm>
        </p:grpSpPr>
        <p:sp>
          <p:nvSpPr>
            <p:cNvPr id="11" name="Rectángulo"/>
            <p:cNvSpPr/>
            <p:nvPr/>
          </p:nvSpPr>
          <p:spPr>
            <a:xfrm>
              <a:off x="0" y="0"/>
              <a:ext cx="5715000" cy="5715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63500" tIns="63500" rIns="63500" bIns="63500" numCol="1" anchor="ctr">
              <a:noAutofit/>
            </a:bodyPr>
            <a:lstStyle/>
            <a:p>
              <a:pPr algn="ctr" defTabSz="457200">
                <a:defRPr sz="4000" b="1" spc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Open Sans"/>
                </a:defRPr>
              </a:pPr>
              <a:endParaRPr/>
            </a:p>
          </p:txBody>
        </p:sp>
        <p:pic>
          <p:nvPicPr>
            <p:cNvPr id="12" name="INACAP_conbajada2.jpeg" descr="INACAP_conbajada2.jpeg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145" y="0"/>
              <a:ext cx="4558710" cy="5715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" name="Texto del título"/>
          <p:cNvSpPr txBox="1">
            <a:spLocks noGrp="1"/>
          </p:cNvSpPr>
          <p:nvPr>
            <p:ph type="title"/>
          </p:nvPr>
        </p:nvSpPr>
        <p:spPr>
          <a:xfrm>
            <a:off x="1219200" y="184149"/>
            <a:ext cx="21945600" cy="301625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 anchor="ctr">
            <a:normAutofit/>
          </a:bodyPr>
          <a:lstStyle/>
          <a:p>
            <a:r>
              <a:t>Texto del título</a:t>
            </a:r>
          </a:p>
        </p:txBody>
      </p:sp>
      <p:sp>
        <p:nvSpPr>
          <p:cNvPr id="15" name="Nivel de texto 1…"/>
          <p:cNvSpPr txBox="1">
            <a:spLocks noGrp="1"/>
          </p:cNvSpPr>
          <p:nvPr>
            <p:ph type="body" idx="1"/>
          </p:nvPr>
        </p:nvSpPr>
        <p:spPr>
          <a:xfrm>
            <a:off x="1219200" y="3200400"/>
            <a:ext cx="21945600" cy="1051560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normAutofit/>
          </a:bodyPr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6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22707600" y="12726034"/>
            <a:ext cx="592431" cy="703581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 anchor="ctr">
            <a:spAutoFit/>
          </a:bodyPr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</p:sldLayoutIdLst>
  <p:transition spd="med"/>
  <p:txStyles>
    <p:title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1pPr>
      <a:lvl2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2pPr>
      <a:lvl3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3pPr>
      <a:lvl4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4pPr>
      <a:lvl5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5pPr>
      <a:lvl6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6pPr>
      <a:lvl7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7pPr>
      <a:lvl8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8pPr>
      <a:lvl9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9pPr>
    </p:titleStyle>
    <p:bodyStyle>
      <a:lvl1pPr marL="244928" marR="0" indent="-244928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1pPr>
      <a:lvl2pPr marL="742950" marR="0" indent="-28575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2pPr>
      <a:lvl3pPr marL="1257300" marR="0" indent="-3429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3pPr>
      <a:lvl4pPr marL="17526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4pPr>
      <a:lvl5pPr marL="22098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5pPr>
      <a:lvl6pPr marL="26670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6pPr>
      <a:lvl7pPr marL="31242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7pPr>
      <a:lvl8pPr marL="35814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8pPr>
      <a:lvl9pPr marL="40386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9pPr>
    </p:bodyStyle>
    <p:other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1pPr>
      <a:lvl2pPr marL="0" marR="0" indent="4572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2pPr>
      <a:lvl3pPr marL="0" marR="0" indent="9144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3pPr>
      <a:lvl4pPr marL="0" marR="0" indent="13716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4pPr>
      <a:lvl5pPr marL="0" marR="0" indent="18288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5pPr>
      <a:lvl6pPr marL="0" marR="0" indent="2286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6pPr>
      <a:lvl7pPr marL="0" marR="0" indent="27432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7pPr>
      <a:lvl8pPr marL="0" marR="0" indent="32004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8pPr>
      <a:lvl9pPr marL="0" marR="0" indent="36576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Universidad INACAP-Hor-1.jpg" descr="Logo Universidad INACAP-Hor-1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850769" y="12439441"/>
            <a:ext cx="4716605" cy="5715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Grupo"/>
          <p:cNvGrpSpPr/>
          <p:nvPr/>
        </p:nvGrpSpPr>
        <p:grpSpPr>
          <a:xfrm>
            <a:off x="0" y="0"/>
            <a:ext cx="24384000" cy="574931"/>
            <a:chOff x="0" y="0"/>
            <a:chExt cx="24384000" cy="574930"/>
          </a:xfrm>
        </p:grpSpPr>
        <p:pic>
          <p:nvPicPr>
            <p:cNvPr id="3" name="Imagen 4" descr="Imagen 4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4384000" cy="5125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" name="Rectángulo"/>
            <p:cNvSpPr/>
            <p:nvPr/>
          </p:nvSpPr>
          <p:spPr>
            <a:xfrm>
              <a:off x="975290" y="279680"/>
              <a:ext cx="4186137" cy="29525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8" name="Grupo"/>
          <p:cNvGrpSpPr/>
          <p:nvPr/>
        </p:nvGrpSpPr>
        <p:grpSpPr>
          <a:xfrm>
            <a:off x="0" y="12813001"/>
            <a:ext cx="24384000" cy="902999"/>
            <a:chOff x="0" y="0"/>
            <a:chExt cx="24384000" cy="902998"/>
          </a:xfrm>
        </p:grpSpPr>
        <p:pic>
          <p:nvPicPr>
            <p:cNvPr id="6" name="Imagen 4" descr="Imagen 4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5601"/>
              <a:ext cx="24384000" cy="8973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Rectángulo"/>
            <p:cNvSpPr/>
            <p:nvPr/>
          </p:nvSpPr>
          <p:spPr>
            <a:xfrm>
              <a:off x="19495884" y="0"/>
              <a:ext cx="4234273" cy="37546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9" name="Línea"/>
          <p:cNvSpPr/>
          <p:nvPr/>
        </p:nvSpPr>
        <p:spPr>
          <a:xfrm>
            <a:off x="7488570" y="7111328"/>
            <a:ext cx="1275619" cy="1"/>
          </a:xfrm>
          <a:prstGeom prst="line">
            <a:avLst/>
          </a:prstGeom>
          <a:ln w="25400">
            <a:solidFill>
              <a:srgbClr val="DF2427"/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sp>
        <p:nvSpPr>
          <p:cNvPr id="10" name="Línea"/>
          <p:cNvSpPr/>
          <p:nvPr/>
        </p:nvSpPr>
        <p:spPr>
          <a:xfrm>
            <a:off x="18034000" y="12099576"/>
            <a:ext cx="6350000" cy="1"/>
          </a:xfrm>
          <a:prstGeom prst="line">
            <a:avLst/>
          </a:prstGeom>
          <a:ln w="12700">
            <a:solidFill>
              <a:srgbClr val="D6D6D6"/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grpSp>
        <p:nvGrpSpPr>
          <p:cNvPr id="13" name="Grupo"/>
          <p:cNvGrpSpPr/>
          <p:nvPr/>
        </p:nvGrpSpPr>
        <p:grpSpPr>
          <a:xfrm>
            <a:off x="18351500" y="12439441"/>
            <a:ext cx="5715000" cy="571501"/>
            <a:chOff x="0" y="0"/>
            <a:chExt cx="5715000" cy="571500"/>
          </a:xfrm>
        </p:grpSpPr>
        <p:sp>
          <p:nvSpPr>
            <p:cNvPr id="11" name="Rectángulo"/>
            <p:cNvSpPr/>
            <p:nvPr/>
          </p:nvSpPr>
          <p:spPr>
            <a:xfrm>
              <a:off x="0" y="0"/>
              <a:ext cx="5715000" cy="5715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63500" tIns="63500" rIns="63500" bIns="63500" numCol="1" anchor="ctr">
              <a:noAutofit/>
            </a:bodyPr>
            <a:lstStyle/>
            <a:p>
              <a:pPr algn="ctr" defTabSz="457200">
                <a:defRPr sz="4000" b="1" spc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Open Sans"/>
                </a:defRPr>
              </a:pPr>
              <a:endParaRPr/>
            </a:p>
          </p:txBody>
        </p:sp>
        <p:pic>
          <p:nvPicPr>
            <p:cNvPr id="12" name="INACAP_conbajada2.jpeg" descr="INACAP_conbajada2.jpeg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145" y="0"/>
              <a:ext cx="4558710" cy="5715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" name="Texto del título"/>
          <p:cNvSpPr txBox="1">
            <a:spLocks noGrp="1"/>
          </p:cNvSpPr>
          <p:nvPr>
            <p:ph type="title"/>
          </p:nvPr>
        </p:nvSpPr>
        <p:spPr>
          <a:xfrm>
            <a:off x="1219200" y="184149"/>
            <a:ext cx="21945600" cy="301625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 anchor="ctr">
            <a:normAutofit/>
          </a:bodyPr>
          <a:lstStyle/>
          <a:p>
            <a:r>
              <a:t>Texto del título</a:t>
            </a:r>
          </a:p>
        </p:txBody>
      </p:sp>
      <p:sp>
        <p:nvSpPr>
          <p:cNvPr id="15" name="Nivel de texto 1…"/>
          <p:cNvSpPr txBox="1">
            <a:spLocks noGrp="1"/>
          </p:cNvSpPr>
          <p:nvPr>
            <p:ph type="body" idx="1"/>
          </p:nvPr>
        </p:nvSpPr>
        <p:spPr>
          <a:xfrm>
            <a:off x="1219200" y="3200400"/>
            <a:ext cx="21945600" cy="1051560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normAutofit/>
          </a:bodyPr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6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22707600" y="12726034"/>
            <a:ext cx="592431" cy="703581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 anchor="ctr">
            <a:spAutoFit/>
          </a:bodyPr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08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5" r:id="rId3"/>
    <p:sldLayoutId id="2147483662" r:id="rId4"/>
  </p:sldLayoutIdLst>
  <p:transition spd="med"/>
  <p:txStyles>
    <p:title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1pPr>
      <a:lvl2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2pPr>
      <a:lvl3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3pPr>
      <a:lvl4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4pPr>
      <a:lvl5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5pPr>
      <a:lvl6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6pPr>
      <a:lvl7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7pPr>
      <a:lvl8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8pPr>
      <a:lvl9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9pPr>
    </p:titleStyle>
    <p:bodyStyle>
      <a:lvl1pPr marL="244928" marR="0" indent="-244928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1pPr>
      <a:lvl2pPr marL="742950" marR="0" indent="-28575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2pPr>
      <a:lvl3pPr marL="1257300" marR="0" indent="-3429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3pPr>
      <a:lvl4pPr marL="17526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4pPr>
      <a:lvl5pPr marL="22098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5pPr>
      <a:lvl6pPr marL="26670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6pPr>
      <a:lvl7pPr marL="31242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7pPr>
      <a:lvl8pPr marL="35814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8pPr>
      <a:lvl9pPr marL="40386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9pPr>
    </p:bodyStyle>
    <p:other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1pPr>
      <a:lvl2pPr marL="0" marR="0" indent="4572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2pPr>
      <a:lvl3pPr marL="0" marR="0" indent="9144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3pPr>
      <a:lvl4pPr marL="0" marR="0" indent="13716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4pPr>
      <a:lvl5pPr marL="0" marR="0" indent="18288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5pPr>
      <a:lvl6pPr marL="0" marR="0" indent="2286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6pPr>
      <a:lvl7pPr marL="0" marR="0" indent="27432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7pPr>
      <a:lvl8pPr marL="0" marR="0" indent="32004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8pPr>
      <a:lvl9pPr marL="0" marR="0" indent="36576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ÍTULO DE LA PRESENTACIÓN"/>
          <p:cNvSpPr txBox="1">
            <a:spLocks noGrp="1"/>
          </p:cNvSpPr>
          <p:nvPr>
            <p:ph type="body" idx="13"/>
          </p:nvPr>
        </p:nvSpPr>
        <p:spPr>
          <a:xfrm>
            <a:off x="3007324" y="3626350"/>
            <a:ext cx="17780000" cy="1292660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FontTx/>
              <a:buNone/>
              <a:defRPr sz="9000" spc="-450">
                <a:solidFill>
                  <a:srgbClr val="5E5E5E"/>
                </a:solidFill>
                <a:latin typeface="+mn-lt"/>
                <a:ea typeface="+mn-ea"/>
                <a:cs typeface="+mn-cs"/>
                <a:sym typeface="Open Sans"/>
              </a:defRPr>
            </a:pPr>
            <a:r>
              <a:rPr lang="es-CL" sz="7200" b="1" dirty="0">
                <a:solidFill>
                  <a:srgbClr val="C00000"/>
                </a:solidFill>
              </a:rPr>
              <a:t>Defensa Proyecto de Título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186152" y="8241398"/>
            <a:ext cx="1179832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0" cap="none" spc="-15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sym typeface="Open Sans Light"/>
              </a:rPr>
              <a:t>Nicolas Aguilera Aguilera</a:t>
            </a:r>
          </a:p>
          <a:p>
            <a:pPr marL="0" marR="0" lvl="0" indent="0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4000" b="1" dirty="0">
                <a:solidFill>
                  <a:schemeClr val="tx1">
                    <a:lumMod val="50000"/>
                  </a:schemeClr>
                </a:solidFill>
              </a:rPr>
              <a:t>Carlos Trincado Herrera</a:t>
            </a:r>
            <a:endParaRPr kumimoji="0" lang="es-CL" sz="4000" b="1" i="0" u="none" strike="noStrike" kern="0" cap="none" spc="-15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sym typeface="Open Sans Light"/>
            </a:endParaRPr>
          </a:p>
          <a:p>
            <a:pPr marL="0" marR="0" lvl="0" indent="0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4000" b="1" dirty="0">
                <a:solidFill>
                  <a:schemeClr val="tx1">
                    <a:lumMod val="50000"/>
                  </a:schemeClr>
                </a:solidFill>
              </a:rPr>
              <a:t>Matías Vargas Cortez</a:t>
            </a:r>
            <a:endParaRPr kumimoji="0" lang="es-CL" sz="4000" b="1" i="0" u="none" strike="noStrike" kern="0" cap="none" spc="-15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sym typeface="Open Sans Light"/>
            </a:endParaRPr>
          </a:p>
          <a:p>
            <a:pPr marL="0" marR="0" lvl="0" indent="0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0" cap="none" spc="-15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sym typeface="Open Sans Light"/>
              </a:rPr>
              <a:t>Fecha: 05/12/2025</a:t>
            </a:r>
          </a:p>
        </p:txBody>
      </p:sp>
      <p:sp>
        <p:nvSpPr>
          <p:cNvPr id="2" name="TÍTULO DE LA PRESENTACIÓN">
            <a:extLst>
              <a:ext uri="{FF2B5EF4-FFF2-40B4-BE49-F238E27FC236}">
                <a16:creationId xmlns:a16="http://schemas.microsoft.com/office/drawing/2014/main" id="{83C38FF6-4F02-1B45-CFB6-3844DFED8E15}"/>
              </a:ext>
            </a:extLst>
          </p:cNvPr>
          <p:cNvSpPr txBox="1">
            <a:spLocks/>
          </p:cNvSpPr>
          <p:nvPr/>
        </p:nvSpPr>
        <p:spPr>
          <a:xfrm>
            <a:off x="3007324" y="4919010"/>
            <a:ext cx="17780000" cy="2031323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 anchor="b">
            <a:spAutoFit/>
          </a:bodyPr>
          <a:lstStyle>
            <a:lvl1pPr marL="244928" marR="0" indent="-24492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742950" marR="0" indent="-28575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algn="ctr" hangingPunct="1">
              <a:buSzTx/>
              <a:buFontTx/>
              <a:buNone/>
              <a:defRPr sz="9000" spc="-450">
                <a:solidFill>
                  <a:srgbClr val="5E5E5E"/>
                </a:solidFill>
                <a:latin typeface="+mn-lt"/>
                <a:ea typeface="+mn-ea"/>
                <a:cs typeface="+mn-cs"/>
                <a:sym typeface="Open Sans"/>
              </a:defRPr>
            </a:pPr>
            <a:r>
              <a:rPr lang="es-CL" sz="6000" b="1" spc="-45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  <a:sym typeface="Open Sans"/>
              </a:rPr>
              <a:t>Sistema Inteligente de </a:t>
            </a:r>
            <a:r>
              <a:rPr lang="es-CL" sz="6000" b="1" spc="-450" dirty="0" err="1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  <a:sym typeface="Open Sans"/>
              </a:rPr>
              <a:t>Gestion</a:t>
            </a:r>
            <a:r>
              <a:rPr lang="es-CL" sz="6000" b="1" spc="-45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  <a:sym typeface="Open Sans"/>
              </a:rPr>
              <a:t> y </a:t>
            </a:r>
            <a:r>
              <a:rPr lang="es-CL" sz="6000" b="1" spc="-450" dirty="0" err="1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  <a:sym typeface="Open Sans"/>
              </a:rPr>
              <a:t>Analisis</a:t>
            </a:r>
            <a:r>
              <a:rPr lang="es-CL" sz="6000" b="1" spc="-45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  <a:sym typeface="Open Sans"/>
              </a:rPr>
              <a:t> Operacional para Bomberos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F7E6727-5FAD-6846-C102-FFC0D6D38C8B}"/>
              </a:ext>
            </a:extLst>
          </p:cNvPr>
          <p:cNvSpPr/>
          <p:nvPr/>
        </p:nvSpPr>
        <p:spPr>
          <a:xfrm>
            <a:off x="17007840" y="11076038"/>
            <a:ext cx="68427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0" cap="none" spc="-150" normalizeH="0" baseline="0" noProof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sym typeface="Open Sans Light"/>
              </a:rPr>
              <a:t>Maria</a:t>
            </a:r>
            <a:r>
              <a:rPr kumimoji="0" lang="es-CL" sz="4000" b="1" i="0" u="none" strike="noStrike" kern="0" cap="none" spc="-15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sym typeface="Open Sans Light"/>
              </a:rPr>
              <a:t> Magdalena Becerra</a:t>
            </a:r>
          </a:p>
        </p:txBody>
      </p:sp>
    </p:spTree>
    <p:extLst>
      <p:ext uri="{BB962C8B-B14F-4D97-AF65-F5344CB8AC3E}">
        <p14:creationId xmlns:p14="http://schemas.microsoft.com/office/powerpoint/2010/main" val="354201133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AA2843-80BE-DFF8-5FDE-41D7732789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5499" y="845745"/>
            <a:ext cx="16981241" cy="923328"/>
          </a:xfrm>
        </p:spPr>
        <p:txBody>
          <a:bodyPr/>
          <a:lstStyle/>
          <a:p>
            <a:pPr marL="0" indent="0">
              <a:buNone/>
            </a:pPr>
            <a:r>
              <a:rPr lang="es-CL" sz="4800" b="1" dirty="0"/>
              <a:t>Índice de contenidos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2962A6-61E8-DA6E-ABEF-4116C2E35E7F}"/>
              </a:ext>
            </a:extLst>
          </p:cNvPr>
          <p:cNvSpPr txBox="1">
            <a:spLocks/>
          </p:cNvSpPr>
          <p:nvPr/>
        </p:nvSpPr>
        <p:spPr>
          <a:xfrm>
            <a:off x="7458900" y="845745"/>
            <a:ext cx="9878124" cy="119303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F0000"/>
                </a:solidFill>
                <a:latin typeface="Myriad Pro"/>
                <a:ea typeface="+mj-ea"/>
                <a:cs typeface="Myriad Pro"/>
              </a:defRPr>
            </a:lvl1pPr>
          </a:lstStyle>
          <a:p>
            <a:pPr marL="514350" indent="-514350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Análisis de la problemática.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Identificación del problema.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Afectados e interesados en el proyecto.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Análisis de la Solución.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Alcance y restricciones.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Procesos de negocio involucrados.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Objetivos el Proyecto.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Objetivo general.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Objetivos Específicos.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Análisis Técnico.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Metodología de Desarrollo.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Diseño de Arquitectura.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Diseño de Infraestructura.</a:t>
            </a:r>
          </a:p>
          <a:p>
            <a:pPr marL="514350" lvl="1" indent="-514350" defTabSz="457200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CL" sz="4000" kern="12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Análisis de sustentabilidad.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Factibilidad Técnica.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Factibilidad Implementativa.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Factibilidad Económica.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Factibilidad Legal.</a:t>
            </a:r>
          </a:p>
          <a:p>
            <a:pPr marL="514350" lvl="1" indent="-514350" defTabSz="457200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CL" sz="4000" kern="1200" dirty="0">
                <a:solidFill>
                  <a:schemeClr val="tx1">
                    <a:lumMod val="50000"/>
                  </a:schemeClr>
                </a:solidFill>
                <a:latin typeface="+mn-lt"/>
                <a:ea typeface="+mj-ea"/>
              </a:rPr>
              <a:t>Conclusiones</a:t>
            </a:r>
          </a:p>
          <a:p>
            <a:pPr marL="514350" lvl="1" indent="-514350" defTabSz="457200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s-CL" sz="4000" kern="1200" dirty="0">
              <a:solidFill>
                <a:schemeClr val="tx1">
                  <a:lumMod val="50000"/>
                </a:schemeClr>
              </a:solidFill>
              <a:latin typeface="+mn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1929493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AA2843-80BE-DFF8-5FDE-41D7732789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380" y="624920"/>
            <a:ext cx="16981241" cy="738662"/>
          </a:xfrm>
        </p:spPr>
        <p:txBody>
          <a:bodyPr/>
          <a:lstStyle/>
          <a:p>
            <a:pPr marL="0" indent="0">
              <a:buNone/>
            </a:pPr>
            <a:r>
              <a:rPr lang="es-CL" sz="3600" dirty="0"/>
              <a:t>Desarrollo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386C088-094E-1A79-8CED-0BA6F62AA484}"/>
              </a:ext>
            </a:extLst>
          </p:cNvPr>
          <p:cNvSpPr txBox="1"/>
          <p:nvPr/>
        </p:nvSpPr>
        <p:spPr>
          <a:xfrm>
            <a:off x="585652" y="2610683"/>
            <a:ext cx="10581111" cy="904862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algn="just"/>
            <a:r>
              <a:rPr lang="es-CL" sz="3600" b="1" i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la problemática.</a:t>
            </a:r>
          </a:p>
          <a:p>
            <a:pPr algn="just"/>
            <a:endParaRPr lang="es-CL" sz="3600" b="1" i="1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Cuerpo de Bomberos de Rancagua gestiona actualmente información crítica —como emergencias, tiempos de respuesta, carros despachados, guardias nocturnas y seguimiento operativo— mediante procesos manuales, fragmentados y en muchos casos no digitalizados.</a:t>
            </a:r>
            <a:b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Esto genera </a:t>
            </a:r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demoras en el acceso a datos</a:t>
            </a: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errores de registro</a:t>
            </a: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dificultad para planificar recursos</a:t>
            </a: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y una </a:t>
            </a:r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ausencia de análisis estadístico</a:t>
            </a: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permita tomar decisiones estratégicas basadas en evidencia.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organización necesita una solución que centralice, procese y analice la información operacional, para mejorar el control interno, la eficiencia y la capacidad de respuesta ante emergencias.</a:t>
            </a:r>
          </a:p>
          <a:p>
            <a:pPr algn="just"/>
            <a:endParaRPr lang="es-CL" sz="36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9C7B861-DB8F-9395-F1B7-00C43C78677E}"/>
              </a:ext>
            </a:extLst>
          </p:cNvPr>
          <p:cNvSpPr txBox="1"/>
          <p:nvPr/>
        </p:nvSpPr>
        <p:spPr>
          <a:xfrm>
            <a:off x="12192000" y="2056686"/>
            <a:ext cx="10913620" cy="1071062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algn="just"/>
            <a:endParaRPr lang="es-CL" sz="36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CL" sz="3600" b="1" i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Identificación del problema.</a:t>
            </a:r>
          </a:p>
          <a:p>
            <a:pPr algn="just"/>
            <a:endParaRPr lang="es-CL" sz="3600" b="1" i="1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problema principal se define como:</a:t>
            </a:r>
          </a:p>
          <a:p>
            <a:pPr algn="just"/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"La falta de un sistema centralizado y automatizado que permita registrar, analizar y visualizar datos operativos de emergencias y guardias, afectando la eficiencia administrativa y la capacidad de toma de decisiones del Cuerpo de Bomberos de Rancagua."</a:t>
            </a:r>
            <a:endParaRPr lang="es-MX" sz="36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 principales manifestaciones del problema son: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Inconsistencias en registros manuales.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Poca disponibilidad de información histórica confiable.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Imposibilidad de obtener reportes avanzados o </a:t>
            </a:r>
            <a:r>
              <a:rPr lang="es-MX" sz="36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tiempo real.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Falta de métricas para evaluar desempeño, tiempos de respuesta y carga operativa.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Dificultad para identificar patrones o zonas críticas de emergencias.</a:t>
            </a:r>
          </a:p>
          <a:p>
            <a:pPr algn="just"/>
            <a:endParaRPr lang="es-CL" sz="36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62792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A01E039-E518-6989-77BF-5B5C5C28C2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4265" y="796503"/>
            <a:ext cx="10465407" cy="12115933"/>
          </a:xfrm>
        </p:spPr>
        <p:txBody>
          <a:bodyPr/>
          <a:lstStyle/>
          <a:p>
            <a:pPr marL="550862" lvl="1" indent="0" algn="just">
              <a:buNone/>
            </a:pPr>
            <a:r>
              <a:rPr lang="es-CL" sz="3600" b="1" i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Afectados e interesados en el proyecto.</a:t>
            </a:r>
          </a:p>
          <a:p>
            <a:pPr marL="550862" lvl="1" indent="0" algn="just">
              <a:buNone/>
            </a:pPr>
            <a:endParaRPr lang="es-CL" sz="36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Afectados directos</a:t>
            </a:r>
          </a:p>
          <a:p>
            <a:pPr algn="just"/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Bomberos voluntarios:</a:t>
            </a: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dependen de registros precisos para cumplir turnos, asignación de carros y análisis de desempeño.</a:t>
            </a:r>
          </a:p>
          <a:p>
            <a:pPr algn="just"/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Oficiales de compañía:</a:t>
            </a: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requieren datos para coordinar guardias, responder a emergencias y gestionar recursos materiales y humanos.</a:t>
            </a:r>
          </a:p>
          <a:p>
            <a:pPr algn="just"/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 de alarmas:</a:t>
            </a: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necesita información confiable para priorizar y despachar carros.</a:t>
            </a:r>
          </a:p>
          <a:p>
            <a:pPr algn="just"/>
            <a:endParaRPr lang="es-MX" sz="36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Interesados (</a:t>
            </a:r>
            <a:r>
              <a:rPr lang="es-MX" sz="3600" b="1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stakeholders</a:t>
            </a:r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Comandancia:</a:t>
            </a: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responsable de decisiones estratégicas, eficiencia operativa y estadística institucional.</a:t>
            </a:r>
          </a:p>
          <a:p>
            <a:pPr algn="just"/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Municipalidad / organismos públicos:</a:t>
            </a: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requieren datos sobre emergencias relevantes para planificación territorial.</a:t>
            </a:r>
          </a:p>
          <a:p>
            <a:pPr algn="just"/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Ciudadanía:</a:t>
            </a: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 ve beneficiada indirectamente por mejores tiempos de respuesta y planificación operativa.</a:t>
            </a:r>
          </a:p>
          <a:p>
            <a:pPr algn="just"/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Desarrolladores / equipo técnico:</a:t>
            </a: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responsables del diseño, implementación y mantenimiento del sistema.</a:t>
            </a:r>
          </a:p>
          <a:p>
            <a:pPr marL="0" indent="0" algn="just">
              <a:buNone/>
            </a:pPr>
            <a:endParaRPr lang="es-MX" sz="36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0862" lvl="1" indent="0" algn="just">
              <a:buNone/>
            </a:pPr>
            <a:endParaRPr lang="es-CL" sz="36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MX" sz="36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C62942FD-5669-1207-9140-FCAA103175CF}"/>
              </a:ext>
            </a:extLst>
          </p:cNvPr>
          <p:cNvSpPr txBox="1">
            <a:spLocks/>
          </p:cNvSpPr>
          <p:nvPr/>
        </p:nvSpPr>
        <p:spPr>
          <a:xfrm>
            <a:off x="11990832" y="796503"/>
            <a:ext cx="11999277" cy="1126462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>
            <a:lvl1pPr marL="244928" marR="0" indent="-24492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742950" marR="0" indent="-28575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550862" lvl="1" indent="0" algn="just" hangingPunct="1">
              <a:buFont typeface="Arial"/>
              <a:buNone/>
            </a:pPr>
            <a:r>
              <a:rPr lang="es-CL" sz="3600" b="1" i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la Solución.</a:t>
            </a:r>
          </a:p>
          <a:p>
            <a:pPr marL="550862" lvl="1" indent="0" algn="just" hangingPunct="1">
              <a:buFont typeface="Arial"/>
              <a:buNone/>
            </a:pPr>
            <a:endParaRPr lang="es-CL" sz="36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solución desarrollada consiste en un </a:t>
            </a:r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sistema web operativo</a:t>
            </a: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construido para digitalizar y automatizar los procesos asociados a: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Registro de emergencias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Gestión de guardias nocturnas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de tiempos de despacho, llegada y regreso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datos históricos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Generación de </a:t>
            </a:r>
            <a:r>
              <a:rPr lang="es-MX" sz="36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mapas de calor y reportes avanzados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Gestión de materiales mayores y menores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Seguimiento estadístico de sectores con mayor incidencia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arquitectura del sistema está diseñada para soportar:</a:t>
            </a:r>
            <a:b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consultas en tiempo real</a:t>
            </a:r>
            <a:b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alto nivel de disponibilidad</a:t>
            </a:r>
            <a:b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capacidad de análisis de Big Data</a:t>
            </a:r>
            <a:b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módulos robustos y escalables hacia futuras funciones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sistema transforma los datos manuales en </a:t>
            </a:r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información accionable</a:t>
            </a: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permitiendo a Bomberos tomar decisiones informadas y mejorar su capacidad operativa.</a:t>
            </a:r>
          </a:p>
          <a:p>
            <a:pPr algn="just" hangingPunct="1"/>
            <a:endParaRPr lang="es-MX" sz="36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66826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EE2B47F-608A-2E26-B18A-20FC673637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3980" y="744023"/>
            <a:ext cx="13933911" cy="13480611"/>
          </a:xfrm>
        </p:spPr>
        <p:txBody>
          <a:bodyPr/>
          <a:lstStyle/>
          <a:p>
            <a:pPr marL="550862" lvl="1" indent="0" algn="just">
              <a:buNone/>
            </a:pPr>
            <a:r>
              <a:rPr lang="es-CL" sz="3600" b="1" i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Alcance y restricciones.</a:t>
            </a:r>
          </a:p>
          <a:p>
            <a:pPr marL="550862" lvl="1" indent="0" algn="just">
              <a:buNone/>
            </a:pPr>
            <a:endParaRPr lang="es-CL" sz="36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Alcance del proyecto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Desarrollo de plataforma web completa.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Módulos de registro y gestión de emergencias.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Módulo de gestión de guardias nocturnas.</a:t>
            </a:r>
          </a:p>
          <a:p>
            <a:pPr algn="just"/>
            <a:r>
              <a:rPr lang="es-MX" sz="36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avanzados con métricas operativas.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Mapas de calor georreferenciados.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Reportes exportables para toma de decisiones.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Implementación de Machine </a:t>
            </a:r>
            <a:r>
              <a:rPr lang="es-MX" sz="36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Deep </a:t>
            </a:r>
            <a:r>
              <a:rPr lang="es-MX" sz="36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análisis predictivo en carga operativa y zonas de riesgo.</a:t>
            </a:r>
          </a:p>
          <a:p>
            <a:pPr algn="just"/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Fuera de alcance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Integración con sistemas externos de Bomberos (por ejemplo, radios, GPS oficiales, software institucional).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Desarrollo de aplicación móvil nativa.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Sistemas automáticos de despacho o notificación instantánea a personal.</a:t>
            </a:r>
          </a:p>
          <a:p>
            <a:pPr algn="just"/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Restricciones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sistema depende de la calidad de los registros ingresados por los usuarios.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Acceso a internet necesario para usar la plataforma.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Limitaciones institucionales respecto a integración con sistemas oficiales de Bomberos.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Disponibilidad de recursos computacionales dependiendo del hosting contratado.</a:t>
            </a:r>
          </a:p>
          <a:p>
            <a:pPr marL="550862" lvl="1" indent="0" algn="just">
              <a:buNone/>
            </a:pPr>
            <a:endParaRPr lang="es-CL" sz="36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s-MX" sz="36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1E67B76F-EB4A-88DA-C59D-AFF05D2ECED6}"/>
              </a:ext>
            </a:extLst>
          </p:cNvPr>
          <p:cNvSpPr txBox="1">
            <a:spLocks/>
          </p:cNvSpPr>
          <p:nvPr/>
        </p:nvSpPr>
        <p:spPr>
          <a:xfrm>
            <a:off x="15267709" y="744023"/>
            <a:ext cx="8752311" cy="11818618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>
            <a:lvl1pPr marL="244928" marR="0" indent="-24492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742950" marR="0" indent="-28575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550862" lvl="1" indent="0" algn="just" hangingPunct="1">
              <a:buFont typeface="Arial"/>
              <a:buNone/>
            </a:pPr>
            <a:r>
              <a:rPr lang="es-CL" sz="3600" b="1" i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Procesos de negocios involucrados.</a:t>
            </a:r>
          </a:p>
          <a:p>
            <a:pPr marL="550862" lvl="1" indent="0" algn="just" hangingPunct="1">
              <a:buFont typeface="Arial"/>
              <a:buNone/>
            </a:pPr>
            <a:endParaRPr lang="es-CL" sz="3600" b="1" i="1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Gestión y administración de guardias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Registro de ingreso/salida.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de estado (activa, programada, finalizada).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Asignación de personal operativo.</a:t>
            </a:r>
          </a:p>
          <a:p>
            <a:pPr algn="just"/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Gestión operativa de emergencias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Registro estructurado de cada emergencia.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Despacho de carros y disponibilidad de materiales.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Tiempos críticos (salida, llegada, regreso).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Identificación de sectores y georreferenciación.</a:t>
            </a:r>
          </a:p>
          <a:p>
            <a:pPr algn="just"/>
            <a:r>
              <a:rPr lang="es-MX" sz="36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Análisis y control estadístico</a:t>
            </a:r>
          </a:p>
          <a:p>
            <a:pPr algn="just"/>
            <a:r>
              <a:rPr lang="es-MX" sz="3600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desempeño.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Tiempos promedio, carga operativa, frecuencia por sector.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Mapas de calor.</a:t>
            </a:r>
          </a:p>
          <a:p>
            <a:pPr algn="just"/>
            <a:r>
              <a:rPr lang="es-MX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Reportes avanzados para la comandancia.</a:t>
            </a:r>
          </a:p>
          <a:p>
            <a:pPr marL="550862" lvl="1" indent="0" algn="just" hangingPunct="1">
              <a:buFont typeface="Arial"/>
              <a:buNone/>
            </a:pPr>
            <a:endParaRPr lang="es-CL" sz="36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hangingPunct="1">
              <a:buFont typeface="Arial"/>
              <a:buNone/>
            </a:pPr>
            <a:endParaRPr lang="es-MX" sz="36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05587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15FBDF7A-43BC-8AD8-F447-7E4E7A6589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379" y="1272465"/>
            <a:ext cx="16981241" cy="2492988"/>
          </a:xfrm>
        </p:spPr>
        <p:txBody>
          <a:bodyPr/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</a:rPr>
              <a:t>Objetivos el Proyecto.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</a:rPr>
              <a:t>Objetivo general.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</a:rPr>
              <a:t>Objetivos Específicos.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7326552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091258A-D531-2948-93DC-390B111C81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379" y="1272465"/>
            <a:ext cx="16981241" cy="3108541"/>
          </a:xfrm>
        </p:spPr>
        <p:txBody>
          <a:bodyPr/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</a:rPr>
              <a:t>Análisis Técnico.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</a:rPr>
              <a:t>Metodología de Desarrollo.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</a:rPr>
              <a:t>Diseño de Arquitectura.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</a:rPr>
              <a:t>Diseño de Infraestructura.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4242371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16E18AA-4C48-EF3B-2B7C-49A3D97916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379" y="1272465"/>
            <a:ext cx="16981241" cy="3724094"/>
          </a:xfrm>
        </p:spPr>
        <p:txBody>
          <a:bodyPr/>
          <a:lstStyle/>
          <a:p>
            <a:pPr marL="514350" lvl="1" indent="-514350" defTabSz="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CL" sz="4000" kern="1200" dirty="0">
                <a:solidFill>
                  <a:schemeClr val="tx1">
                    <a:lumMod val="50000"/>
                  </a:schemeClr>
                </a:solidFill>
              </a:rPr>
              <a:t>Análisis de sustentabilidad.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</a:rPr>
              <a:t>Factibilidad Técnica.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</a:rPr>
              <a:t>Factibilidad </a:t>
            </a:r>
            <a:r>
              <a:rPr lang="es-CL" sz="4000" dirty="0" err="1">
                <a:solidFill>
                  <a:schemeClr val="tx1">
                    <a:lumMod val="50000"/>
                  </a:schemeClr>
                </a:solidFill>
              </a:rPr>
              <a:t>Implementativa</a:t>
            </a:r>
            <a:r>
              <a:rPr lang="es-CL" sz="4000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</a:rPr>
              <a:t>Factibilidad Económica.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tx1">
                    <a:lumMod val="50000"/>
                  </a:schemeClr>
                </a:solidFill>
              </a:rPr>
              <a:t>Factibilidad Legal.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0021974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16FE7EEB-E388-0F7D-E4DC-F2C51EA41D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379" y="1272465"/>
            <a:ext cx="16981241" cy="646329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Conclusiones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7DBCF44-2D1E-4D22-845B-0D91E01E7F05}"/>
              </a:ext>
            </a:extLst>
          </p:cNvPr>
          <p:cNvSpPr txBox="1"/>
          <p:nvPr/>
        </p:nvSpPr>
        <p:spPr>
          <a:xfrm>
            <a:off x="1278379" y="4624753"/>
            <a:ext cx="20100293" cy="1107994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L" sz="3000" b="0" i="0" u="none" strike="noStrike" cap="none" spc="-15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Open Sans Light"/>
              </a:rPr>
              <a:t>El objetivo de este punto es resumir el punto central de la exposición respondiendo a la pregunta inicial o problema abordado en el trabajo.</a:t>
            </a:r>
          </a:p>
        </p:txBody>
      </p:sp>
    </p:spTree>
    <p:extLst>
      <p:ext uri="{BB962C8B-B14F-4D97-AF65-F5344CB8AC3E}">
        <p14:creationId xmlns:p14="http://schemas.microsoft.com/office/powerpoint/2010/main" val="270285162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Tema de Office">
  <a:themeElements>
    <a:clrScheme name="Tema de Office">
      <a:dk1>
        <a:srgbClr val="535353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e Office">
      <a:majorFont>
        <a:latin typeface="Open Sans"/>
        <a:ea typeface="Open Sans"/>
        <a:cs typeface="Open Sans"/>
      </a:majorFont>
      <a:minorFont>
        <a:latin typeface="Open Sans"/>
        <a:ea typeface="Open Sans"/>
        <a:cs typeface="Open Sans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-12941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Open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-150" normalizeH="0" baseline="0">
            <a:ln>
              <a:noFill/>
            </a:ln>
            <a:solidFill>
              <a:srgbClr val="535353"/>
            </a:solidFill>
            <a:effectLst/>
            <a:uFillTx/>
            <a:latin typeface="Open Sans Light"/>
            <a:ea typeface="Open Sans Light"/>
            <a:cs typeface="Open Sans Light"/>
            <a:sym typeface="Open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Tema de Office">
  <a:themeElements>
    <a:clrScheme name="Tema de Office">
      <a:dk1>
        <a:srgbClr val="535353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e Office">
      <a:majorFont>
        <a:latin typeface="Open Sans"/>
        <a:ea typeface="Open Sans"/>
        <a:cs typeface="Open Sans"/>
      </a:majorFont>
      <a:minorFont>
        <a:latin typeface="Open Sans"/>
        <a:ea typeface="Open Sans"/>
        <a:cs typeface="Open Sans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-12941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Open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-150" normalizeH="0" baseline="0">
            <a:ln>
              <a:noFill/>
            </a:ln>
            <a:solidFill>
              <a:srgbClr val="535353"/>
            </a:solidFill>
            <a:effectLst/>
            <a:uFillTx/>
            <a:latin typeface="Open Sans Light"/>
            <a:ea typeface="Open Sans Light"/>
            <a:cs typeface="Open Sans Light"/>
            <a:sym typeface="Open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e Office">
      <a:majorFont>
        <a:latin typeface="Open Sans"/>
        <a:ea typeface="Open Sans"/>
        <a:cs typeface="Open Sans"/>
      </a:majorFont>
      <a:minorFont>
        <a:latin typeface="Open Sans"/>
        <a:ea typeface="Open Sans"/>
        <a:cs typeface="Open Sans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-12941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Open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-150" normalizeH="0" baseline="0">
            <a:ln>
              <a:noFill/>
            </a:ln>
            <a:solidFill>
              <a:srgbClr val="535353"/>
            </a:solidFill>
            <a:effectLst/>
            <a:uFillTx/>
            <a:latin typeface="Open Sans Light"/>
            <a:ea typeface="Open Sans Light"/>
            <a:cs typeface="Open Sans Light"/>
            <a:sym typeface="Open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4651164-0f15-4d13-a36d-0ab7743e2aa9" xsi:nil="true"/>
    <lcf76f155ced4ddcb4097134ff3c332f xmlns="761aade0-c56a-4bfb-a3f4-7c00d91f8fb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BDD80B2DF3B4A48BEFAF9D653F7AB76" ma:contentTypeVersion="14" ma:contentTypeDescription="Crear nuevo documento." ma:contentTypeScope="" ma:versionID="dcd630353014c0794e9af5d3940c4355">
  <xsd:schema xmlns:xsd="http://www.w3.org/2001/XMLSchema" xmlns:xs="http://www.w3.org/2001/XMLSchema" xmlns:p="http://schemas.microsoft.com/office/2006/metadata/properties" xmlns:ns2="761aade0-c56a-4bfb-a3f4-7c00d91f8fba" xmlns:ns3="a4651164-0f15-4d13-a36d-0ab7743e2aa9" targetNamespace="http://schemas.microsoft.com/office/2006/metadata/properties" ma:root="true" ma:fieldsID="e1ade2dada4b80f15c88fdaed65ae374" ns2:_="" ns3:_="">
    <xsd:import namespace="761aade0-c56a-4bfb-a3f4-7c00d91f8fba"/>
    <xsd:import namespace="a4651164-0f15-4d13-a36d-0ab7743e2a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aade0-c56a-4bfb-a3f4-7c00d91f8f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daa6bfef-be34-4cf6-a2a3-f19fab1f61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651164-0f15-4d13-a36d-0ab7743e2aa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533a76d4-bc2f-4f6e-81f1-bf3274ab5108}" ma:internalName="TaxCatchAll" ma:showField="CatchAllData" ma:web="a4651164-0f15-4d13-a36d-0ab7743e2a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5A379D-26A7-4767-8B24-F1E49998E49D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office/infopath/2007/PartnerControls"/>
    <ds:schemaRef ds:uri="http://purl.org/dc/dcmitype/"/>
    <ds:schemaRef ds:uri="http://www.w3.org/XML/1998/namespace"/>
    <ds:schemaRef ds:uri="http://purl.org/dc/elements/1.1/"/>
    <ds:schemaRef ds:uri="http://schemas.openxmlformats.org/package/2006/metadata/core-properties"/>
    <ds:schemaRef ds:uri="761aade0-c56a-4bfb-a3f4-7c00d91f8fba"/>
    <ds:schemaRef ds:uri="83532b45-93b1-487b-8f20-74f965879f7b"/>
    <ds:schemaRef ds:uri="dc7d85ec-6b5b-4d07-9be9-6f4658e2a860"/>
    <ds:schemaRef ds:uri="a4651164-0f15-4d13-a36d-0ab7743e2aa9"/>
  </ds:schemaRefs>
</ds:datastoreItem>
</file>

<file path=customXml/itemProps2.xml><?xml version="1.0" encoding="utf-8"?>
<ds:datastoreItem xmlns:ds="http://schemas.openxmlformats.org/officeDocument/2006/customXml" ds:itemID="{359EBE8E-6CFB-4DDB-B398-CE20A9044A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1aade0-c56a-4bfb-a3f4-7c00d91f8fba"/>
    <ds:schemaRef ds:uri="a4651164-0f15-4d13-a36d-0ab7743e2a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63A65E-E95D-4135-95C3-2FE0B86CC7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9353</TotalTime>
  <Words>879</Words>
  <Application>Microsoft Office PowerPoint</Application>
  <PresentationFormat>Personalizado</PresentationFormat>
  <Paragraphs>117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Open Sans</vt:lpstr>
      <vt:lpstr>Open Sans Light</vt:lpstr>
      <vt:lpstr>Times New Roman</vt:lpstr>
      <vt:lpstr>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Carmen González Chang</dc:creator>
  <cp:lastModifiedBy>NICOLAS IGNACIO EDUARDO AGUILERA AGUILERA</cp:lastModifiedBy>
  <cp:revision>258</cp:revision>
  <dcterms:modified xsi:type="dcterms:W3CDTF">2025-12-03T03:18:21Z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0x0101007BDD80B2DF3B4A48BEFAF9D653F7AB76</vt:lpwstr>
  </property>
  <property fmtid="{D5CDD505-2E9C-101B-9397-08002B2CF9AE}" pid="3" name="Order">
    <vt:r8>69366400</vt:r8>
  </property>
  <property fmtid="{D5CDD505-2E9C-101B-9397-08002B2CF9AE}" pid="4" name="Título">
    <vt:lpwstr>Presentación de PowerPoint</vt:lpwstr>
  </property>
  <property fmtid="{D5CDD505-2E9C-101B-9397-08002B2CF9AE}" pid="5" name="MediaServiceImageTags">
    <vt:lpwstr/>
  </property>
</Properties>
</file>